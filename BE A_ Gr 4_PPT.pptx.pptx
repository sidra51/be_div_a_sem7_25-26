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7" r:id="rId14"/>
    <p:sldId id="268" r:id="rId15"/>
    <p:sldId id="269" r:id="rId16"/>
    <p:sldId id="270" r:id="rId17"/>
    <p:sldId id="278" r:id="rId18"/>
    <p:sldId id="279" r:id="rId19"/>
    <p:sldId id="273" r:id="rId20"/>
    <p:sldId id="272" r:id="rId21"/>
    <p:sldId id="274" r:id="rId22"/>
    <p:sldId id="275" r:id="rId23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>
      <p:cViewPr varScale="1">
        <p:scale>
          <a:sx n="84" d="100"/>
          <a:sy n="84" d="100"/>
        </p:scale>
        <p:origin x="1157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655957" y="4608125"/>
            <a:ext cx="4425315" cy="2952115"/>
          </a:xfrm>
          <a:custGeom>
            <a:avLst/>
            <a:gdLst/>
            <a:ahLst/>
            <a:cxnLst/>
            <a:rect l="l" t="t" r="r" b="b"/>
            <a:pathLst>
              <a:path w="4425315" h="2952115">
                <a:moveTo>
                  <a:pt x="0" y="2951514"/>
                </a:moveTo>
                <a:lnTo>
                  <a:pt x="4424762" y="0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64119" y="3"/>
            <a:ext cx="1343660" cy="7559675"/>
          </a:xfrm>
          <a:custGeom>
            <a:avLst/>
            <a:gdLst/>
            <a:ahLst/>
            <a:cxnLst/>
            <a:rect l="l" t="t" r="r" b="b"/>
            <a:pathLst>
              <a:path w="1343659" h="7559675">
                <a:moveTo>
                  <a:pt x="0" y="0"/>
                </a:moveTo>
                <a:lnTo>
                  <a:pt x="1343164" y="7559636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97444" y="0"/>
            <a:ext cx="2483485" cy="7559675"/>
          </a:xfrm>
          <a:custGeom>
            <a:avLst/>
            <a:gdLst/>
            <a:ahLst/>
            <a:cxnLst/>
            <a:rect l="l" t="t" r="r" b="b"/>
            <a:pathLst>
              <a:path w="2483484" h="7559675">
                <a:moveTo>
                  <a:pt x="2240794" y="0"/>
                </a:moveTo>
                <a:lnTo>
                  <a:pt x="2230447" y="0"/>
                </a:lnTo>
                <a:lnTo>
                  <a:pt x="0" y="7559640"/>
                </a:lnTo>
                <a:lnTo>
                  <a:pt x="2483275" y="7559640"/>
                </a:lnTo>
                <a:lnTo>
                  <a:pt x="2483275" y="8341"/>
                </a:lnTo>
                <a:lnTo>
                  <a:pt x="2240794" y="0"/>
                </a:lnTo>
                <a:close/>
              </a:path>
            </a:pathLst>
          </a:custGeom>
          <a:solidFill>
            <a:srgbClr val="5ECAEE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43658" y="0"/>
            <a:ext cx="2137410" cy="7559675"/>
          </a:xfrm>
          <a:custGeom>
            <a:avLst/>
            <a:gdLst/>
            <a:ahLst/>
            <a:cxnLst/>
            <a:rect l="l" t="t" r="r" b="b"/>
            <a:pathLst>
              <a:path w="2137409" h="7559675">
                <a:moveTo>
                  <a:pt x="2137062" y="0"/>
                </a:moveTo>
                <a:lnTo>
                  <a:pt x="0" y="0"/>
                </a:lnTo>
                <a:lnTo>
                  <a:pt x="1323455" y="7559640"/>
                </a:lnTo>
                <a:lnTo>
                  <a:pt x="2137062" y="7559640"/>
                </a:lnTo>
                <a:lnTo>
                  <a:pt x="2137062" y="0"/>
                </a:lnTo>
                <a:close/>
              </a:path>
            </a:pathLst>
          </a:custGeom>
          <a:solidFill>
            <a:srgbClr val="5E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8438" y="4321561"/>
            <a:ext cx="2762885" cy="3237865"/>
          </a:xfrm>
          <a:custGeom>
            <a:avLst/>
            <a:gdLst/>
            <a:ahLst/>
            <a:cxnLst/>
            <a:rect l="l" t="t" r="r" b="b"/>
            <a:pathLst>
              <a:path w="2762884" h="3237865">
                <a:moveTo>
                  <a:pt x="2762281" y="0"/>
                </a:moveTo>
                <a:lnTo>
                  <a:pt x="0" y="3237722"/>
                </a:lnTo>
                <a:lnTo>
                  <a:pt x="2762281" y="3237722"/>
                </a:lnTo>
                <a:lnTo>
                  <a:pt x="2762281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30385" y="0"/>
            <a:ext cx="2350770" cy="7559675"/>
          </a:xfrm>
          <a:custGeom>
            <a:avLst/>
            <a:gdLst/>
            <a:ahLst/>
            <a:cxnLst/>
            <a:rect l="l" t="t" r="r" b="b"/>
            <a:pathLst>
              <a:path w="2350770" h="7559675">
                <a:moveTo>
                  <a:pt x="2350334" y="0"/>
                </a:moveTo>
                <a:lnTo>
                  <a:pt x="0" y="0"/>
                </a:lnTo>
                <a:lnTo>
                  <a:pt x="2043978" y="7559640"/>
                </a:lnTo>
                <a:lnTo>
                  <a:pt x="2350334" y="7550547"/>
                </a:lnTo>
                <a:lnTo>
                  <a:pt x="2350334" y="0"/>
                </a:lnTo>
                <a:close/>
              </a:path>
            </a:pathLst>
          </a:custGeom>
          <a:solidFill>
            <a:srgbClr val="15AFE2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5079" y="0"/>
            <a:ext cx="935990" cy="7559675"/>
          </a:xfrm>
          <a:custGeom>
            <a:avLst/>
            <a:gdLst/>
            <a:ahLst/>
            <a:cxnLst/>
            <a:rect l="l" t="t" r="r" b="b"/>
            <a:pathLst>
              <a:path w="935990" h="7559675">
                <a:moveTo>
                  <a:pt x="935640" y="0"/>
                </a:moveTo>
                <a:lnTo>
                  <a:pt x="744609" y="0"/>
                </a:lnTo>
                <a:lnTo>
                  <a:pt x="0" y="7559640"/>
                </a:lnTo>
                <a:lnTo>
                  <a:pt x="935640" y="7559640"/>
                </a:lnTo>
                <a:lnTo>
                  <a:pt x="935640" y="0"/>
                </a:lnTo>
                <a:close/>
              </a:path>
            </a:pathLst>
          </a:custGeom>
          <a:solidFill>
            <a:srgbClr val="2D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24284" y="0"/>
            <a:ext cx="1156970" cy="7559675"/>
          </a:xfrm>
          <a:custGeom>
            <a:avLst/>
            <a:gdLst/>
            <a:ahLst/>
            <a:cxnLst/>
            <a:rect l="l" t="t" r="r" b="b"/>
            <a:pathLst>
              <a:path w="1156970" h="7559675">
                <a:moveTo>
                  <a:pt x="1156435" y="0"/>
                </a:moveTo>
                <a:lnTo>
                  <a:pt x="0" y="0"/>
                </a:lnTo>
                <a:lnTo>
                  <a:pt x="1033671" y="7559640"/>
                </a:lnTo>
                <a:lnTo>
                  <a:pt x="1156435" y="7559640"/>
                </a:lnTo>
                <a:lnTo>
                  <a:pt x="1156435" y="0"/>
                </a:lnTo>
                <a:close/>
              </a:path>
            </a:pathLst>
          </a:custGeom>
          <a:solidFill>
            <a:srgbClr val="216191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94876" y="5420866"/>
            <a:ext cx="1186180" cy="2139315"/>
          </a:xfrm>
          <a:custGeom>
            <a:avLst/>
            <a:gdLst/>
            <a:ahLst/>
            <a:cxnLst/>
            <a:rect l="l" t="t" r="r" b="b"/>
            <a:pathLst>
              <a:path w="1186179" h="2139315">
                <a:moveTo>
                  <a:pt x="1185843" y="0"/>
                </a:moveTo>
                <a:lnTo>
                  <a:pt x="0" y="2138773"/>
                </a:lnTo>
                <a:lnTo>
                  <a:pt x="1185843" y="2133117"/>
                </a:lnTo>
                <a:lnTo>
                  <a:pt x="1185843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4587"/>
            <a:ext cx="494030" cy="3075305"/>
          </a:xfrm>
          <a:custGeom>
            <a:avLst/>
            <a:gdLst/>
            <a:ahLst/>
            <a:cxnLst/>
            <a:rect l="l" t="t" r="r" b="b"/>
            <a:pathLst>
              <a:path w="494030" h="3075304">
                <a:moveTo>
                  <a:pt x="0" y="0"/>
                </a:moveTo>
                <a:lnTo>
                  <a:pt x="0" y="3075052"/>
                </a:lnTo>
                <a:lnTo>
                  <a:pt x="493493" y="3075052"/>
                </a:lnTo>
                <a:lnTo>
                  <a:pt x="0" y="0"/>
                </a:lnTo>
                <a:close/>
              </a:path>
            </a:pathLst>
          </a:custGeom>
          <a:solidFill>
            <a:srgbClr val="5ECAE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55957" y="4608125"/>
            <a:ext cx="4425315" cy="2952115"/>
          </a:xfrm>
          <a:custGeom>
            <a:avLst/>
            <a:gdLst/>
            <a:ahLst/>
            <a:cxnLst/>
            <a:rect l="l" t="t" r="r" b="b"/>
            <a:pathLst>
              <a:path w="4425315" h="2952115">
                <a:moveTo>
                  <a:pt x="0" y="2951514"/>
                </a:moveTo>
                <a:lnTo>
                  <a:pt x="4424762" y="0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64119" y="3"/>
            <a:ext cx="1343660" cy="7559675"/>
          </a:xfrm>
          <a:custGeom>
            <a:avLst/>
            <a:gdLst/>
            <a:ahLst/>
            <a:cxnLst/>
            <a:rect l="l" t="t" r="r" b="b"/>
            <a:pathLst>
              <a:path w="1343659" h="7559675">
                <a:moveTo>
                  <a:pt x="0" y="0"/>
                </a:moveTo>
                <a:lnTo>
                  <a:pt x="1343164" y="7559636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597444" y="0"/>
            <a:ext cx="2483485" cy="7559675"/>
          </a:xfrm>
          <a:custGeom>
            <a:avLst/>
            <a:gdLst/>
            <a:ahLst/>
            <a:cxnLst/>
            <a:rect l="l" t="t" r="r" b="b"/>
            <a:pathLst>
              <a:path w="2483484" h="7559675">
                <a:moveTo>
                  <a:pt x="2240794" y="0"/>
                </a:moveTo>
                <a:lnTo>
                  <a:pt x="2230447" y="0"/>
                </a:lnTo>
                <a:lnTo>
                  <a:pt x="0" y="7559640"/>
                </a:lnTo>
                <a:lnTo>
                  <a:pt x="2483275" y="7559640"/>
                </a:lnTo>
                <a:lnTo>
                  <a:pt x="2483275" y="8341"/>
                </a:lnTo>
                <a:lnTo>
                  <a:pt x="2240794" y="0"/>
                </a:lnTo>
                <a:close/>
              </a:path>
            </a:pathLst>
          </a:custGeom>
          <a:solidFill>
            <a:srgbClr val="5ECAEE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943658" y="0"/>
            <a:ext cx="2137410" cy="7559675"/>
          </a:xfrm>
          <a:custGeom>
            <a:avLst/>
            <a:gdLst/>
            <a:ahLst/>
            <a:cxnLst/>
            <a:rect l="l" t="t" r="r" b="b"/>
            <a:pathLst>
              <a:path w="2137409" h="7559675">
                <a:moveTo>
                  <a:pt x="2137062" y="0"/>
                </a:moveTo>
                <a:lnTo>
                  <a:pt x="0" y="0"/>
                </a:lnTo>
                <a:lnTo>
                  <a:pt x="1323455" y="7559640"/>
                </a:lnTo>
                <a:lnTo>
                  <a:pt x="2137062" y="7559640"/>
                </a:lnTo>
                <a:lnTo>
                  <a:pt x="2137062" y="0"/>
                </a:lnTo>
                <a:close/>
              </a:path>
            </a:pathLst>
          </a:custGeom>
          <a:solidFill>
            <a:srgbClr val="5E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318438" y="4321561"/>
            <a:ext cx="2762885" cy="3237865"/>
          </a:xfrm>
          <a:custGeom>
            <a:avLst/>
            <a:gdLst/>
            <a:ahLst/>
            <a:cxnLst/>
            <a:rect l="l" t="t" r="r" b="b"/>
            <a:pathLst>
              <a:path w="2762884" h="3237865">
                <a:moveTo>
                  <a:pt x="2762281" y="0"/>
                </a:moveTo>
                <a:lnTo>
                  <a:pt x="0" y="3237722"/>
                </a:lnTo>
                <a:lnTo>
                  <a:pt x="2762281" y="3237722"/>
                </a:lnTo>
                <a:lnTo>
                  <a:pt x="2762281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730385" y="0"/>
            <a:ext cx="2350770" cy="7559675"/>
          </a:xfrm>
          <a:custGeom>
            <a:avLst/>
            <a:gdLst/>
            <a:ahLst/>
            <a:cxnLst/>
            <a:rect l="l" t="t" r="r" b="b"/>
            <a:pathLst>
              <a:path w="2350770" h="7559675">
                <a:moveTo>
                  <a:pt x="2350334" y="0"/>
                </a:moveTo>
                <a:lnTo>
                  <a:pt x="0" y="0"/>
                </a:lnTo>
                <a:lnTo>
                  <a:pt x="2043978" y="7559640"/>
                </a:lnTo>
                <a:lnTo>
                  <a:pt x="2350334" y="7550547"/>
                </a:lnTo>
                <a:lnTo>
                  <a:pt x="2350334" y="0"/>
                </a:lnTo>
                <a:close/>
              </a:path>
            </a:pathLst>
          </a:custGeom>
          <a:solidFill>
            <a:srgbClr val="15AFE2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5079" y="0"/>
            <a:ext cx="935990" cy="7559675"/>
          </a:xfrm>
          <a:custGeom>
            <a:avLst/>
            <a:gdLst/>
            <a:ahLst/>
            <a:cxnLst/>
            <a:rect l="l" t="t" r="r" b="b"/>
            <a:pathLst>
              <a:path w="935990" h="7559675">
                <a:moveTo>
                  <a:pt x="935640" y="0"/>
                </a:moveTo>
                <a:lnTo>
                  <a:pt x="744609" y="0"/>
                </a:lnTo>
                <a:lnTo>
                  <a:pt x="0" y="7559640"/>
                </a:lnTo>
                <a:lnTo>
                  <a:pt x="935640" y="7559640"/>
                </a:lnTo>
                <a:lnTo>
                  <a:pt x="935640" y="0"/>
                </a:lnTo>
                <a:close/>
              </a:path>
            </a:pathLst>
          </a:custGeom>
          <a:solidFill>
            <a:srgbClr val="2D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24284" y="0"/>
            <a:ext cx="1156970" cy="7559675"/>
          </a:xfrm>
          <a:custGeom>
            <a:avLst/>
            <a:gdLst/>
            <a:ahLst/>
            <a:cxnLst/>
            <a:rect l="l" t="t" r="r" b="b"/>
            <a:pathLst>
              <a:path w="1156970" h="7559675">
                <a:moveTo>
                  <a:pt x="1156435" y="0"/>
                </a:moveTo>
                <a:lnTo>
                  <a:pt x="0" y="0"/>
                </a:lnTo>
                <a:lnTo>
                  <a:pt x="1033671" y="7559640"/>
                </a:lnTo>
                <a:lnTo>
                  <a:pt x="1156435" y="7559640"/>
                </a:lnTo>
                <a:lnTo>
                  <a:pt x="1156435" y="0"/>
                </a:lnTo>
                <a:close/>
              </a:path>
            </a:pathLst>
          </a:custGeom>
          <a:solidFill>
            <a:srgbClr val="216191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94876" y="5420866"/>
            <a:ext cx="1186180" cy="2139315"/>
          </a:xfrm>
          <a:custGeom>
            <a:avLst/>
            <a:gdLst/>
            <a:ahLst/>
            <a:cxnLst/>
            <a:rect l="l" t="t" r="r" b="b"/>
            <a:pathLst>
              <a:path w="1186179" h="2139315">
                <a:moveTo>
                  <a:pt x="1185843" y="0"/>
                </a:moveTo>
                <a:lnTo>
                  <a:pt x="0" y="2138773"/>
                </a:lnTo>
                <a:lnTo>
                  <a:pt x="1185843" y="2133117"/>
                </a:lnTo>
                <a:lnTo>
                  <a:pt x="1185843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04" y="81257"/>
            <a:ext cx="6765836" cy="11244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5934" y="1397485"/>
            <a:ext cx="8592820" cy="3773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666285X21000698?utm_source=chatgpt.com" TargetMode="External"/><Relationship Id="rId2" Type="http://schemas.openxmlformats.org/officeDocument/2006/relationships/hyperlink" Target="https://link.springer.com/article/10.1007/s10551-021-05015-8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258" y="2422705"/>
            <a:ext cx="8840470" cy="10845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25500" marR="5080" indent="-813435">
              <a:lnSpc>
                <a:spcPts val="4020"/>
              </a:lnSpc>
              <a:spcBef>
                <a:spcPts val="480"/>
              </a:spcBef>
            </a:pPr>
            <a:r>
              <a:rPr dirty="0"/>
              <a:t>GreenEquip:</a:t>
            </a:r>
            <a:r>
              <a:rPr spc="-114" dirty="0"/>
              <a:t> </a:t>
            </a:r>
            <a:r>
              <a:rPr spc="-10" dirty="0"/>
              <a:t>Decentralized</a:t>
            </a:r>
            <a:r>
              <a:rPr spc="-120" dirty="0"/>
              <a:t> </a:t>
            </a:r>
            <a:r>
              <a:rPr dirty="0"/>
              <a:t>Farm</a:t>
            </a:r>
            <a:r>
              <a:rPr spc="-120" dirty="0"/>
              <a:t> </a:t>
            </a:r>
            <a:r>
              <a:rPr spc="-10" dirty="0"/>
              <a:t>Machinery </a:t>
            </a:r>
            <a:r>
              <a:rPr spc="-25" dirty="0"/>
              <a:t>Rental</a:t>
            </a:r>
            <a:r>
              <a:rPr spc="-204" dirty="0"/>
              <a:t> </a:t>
            </a:r>
            <a:r>
              <a:rPr dirty="0"/>
              <a:t>Application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-10" dirty="0"/>
              <a:t> blockchain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779" y="4029619"/>
            <a:ext cx="3852799" cy="285142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</a:pPr>
            <a:r>
              <a:rPr sz="2400" b="1" dirty="0">
                <a:latin typeface="Times New Roman"/>
                <a:cs typeface="Times New Roman"/>
              </a:rPr>
              <a:t>Om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Panchal</a:t>
            </a:r>
            <a:r>
              <a:rPr lang="en-IN"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22106025 </a:t>
            </a:r>
            <a:r>
              <a:rPr sz="2400" b="1" dirty="0">
                <a:latin typeface="Times New Roman"/>
                <a:cs typeface="Times New Roman"/>
              </a:rPr>
              <a:t>Sumant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Bhise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22106095 </a:t>
            </a:r>
            <a:r>
              <a:rPr sz="2400" b="1" dirty="0">
                <a:latin typeface="Times New Roman"/>
                <a:cs typeface="Times New Roman"/>
              </a:rPr>
              <a:t>Sidra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Khan</a:t>
            </a:r>
            <a:r>
              <a:rPr lang="en-IN"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22106028 </a:t>
            </a:r>
            <a:r>
              <a:rPr sz="2400" b="1" dirty="0">
                <a:latin typeface="Times New Roman"/>
                <a:cs typeface="Times New Roman"/>
              </a:rPr>
              <a:t>Devang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 err="1">
                <a:latin typeface="Times New Roman"/>
                <a:cs typeface="Times New Roman"/>
              </a:rPr>
              <a:t>Dhuri</a:t>
            </a:r>
            <a:r>
              <a:rPr lang="en-IN" sz="2400" b="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22106036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4450" algn="ctr">
              <a:lnSpc>
                <a:spcPts val="3265"/>
              </a:lnSpc>
            </a:pP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Guide</a:t>
            </a:r>
            <a:endParaRPr sz="2800" dirty="0">
              <a:latin typeface="Times New Roman"/>
              <a:cs typeface="Times New Roman"/>
            </a:endParaRPr>
          </a:p>
          <a:p>
            <a:pPr marL="44450" algn="ctr">
              <a:lnSpc>
                <a:spcPts val="2785"/>
              </a:lnSpc>
            </a:pPr>
            <a:r>
              <a:rPr sz="2400" b="1" dirty="0">
                <a:latin typeface="Times New Roman"/>
                <a:cs typeface="Times New Roman"/>
              </a:rPr>
              <a:t>Ms.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Shraddha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Dalvi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78920"/>
            <a:ext cx="10080625" cy="1640205"/>
            <a:chOff x="0" y="178920"/>
            <a:chExt cx="10080625" cy="1640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7551"/>
              <a:ext cx="10080358" cy="1015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742760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358" y="0"/>
                  </a:lnTo>
                </a:path>
              </a:pathLst>
            </a:custGeom>
            <a:ln w="25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638" y="178920"/>
              <a:ext cx="8508961" cy="13712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1" y="1774713"/>
            <a:ext cx="8534399" cy="310174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100" dirty="0">
                <a:latin typeface="Times New Roman"/>
                <a:cs typeface="Times New Roman"/>
              </a:rPr>
              <a:t>Agriculture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heavily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dependent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efficiency,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but </a:t>
            </a:r>
            <a:r>
              <a:rPr sz="2100" dirty="0">
                <a:latin typeface="Times New Roman"/>
                <a:cs typeface="Times New Roman"/>
              </a:rPr>
              <a:t>small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marginal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cannot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afford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costly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equipment.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Existing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rental </a:t>
            </a:r>
            <a:r>
              <a:rPr sz="2100" dirty="0">
                <a:latin typeface="Times New Roman"/>
                <a:cs typeface="Times New Roman"/>
              </a:rPr>
              <a:t>systems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fragmented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lack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transparency,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often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leading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unfair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pricing </a:t>
            </a:r>
            <a:r>
              <a:rPr sz="2100" dirty="0">
                <a:latin typeface="Times New Roman"/>
                <a:cs typeface="Times New Roman"/>
              </a:rPr>
              <a:t>and </a:t>
            </a:r>
            <a:r>
              <a:rPr sz="2100" spc="-10" dirty="0">
                <a:latin typeface="Times New Roman"/>
                <a:cs typeface="Times New Roman"/>
              </a:rPr>
              <a:t>disputes.</a:t>
            </a:r>
            <a:endParaRPr sz="2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3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 marR="410845" algn="just">
              <a:lnSpc>
                <a:spcPts val="2590"/>
              </a:lnSpc>
            </a:pP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offers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tamper-</a:t>
            </a:r>
            <a:r>
              <a:rPr sz="2100" dirty="0">
                <a:latin typeface="Times New Roman"/>
                <a:cs typeface="Times New Roman"/>
              </a:rPr>
              <a:t>proof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solution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ensures </a:t>
            </a:r>
            <a:r>
              <a:rPr sz="2100" dirty="0">
                <a:latin typeface="Times New Roman"/>
                <a:cs typeface="Times New Roman"/>
              </a:rPr>
              <a:t>trust,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payments,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direct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transactions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owners.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leveraging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contracts,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processes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be </a:t>
            </a:r>
            <a:r>
              <a:rPr sz="2100" dirty="0">
                <a:latin typeface="Times New Roman"/>
                <a:cs typeface="Times New Roman"/>
              </a:rPr>
              <a:t>automated,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affordable,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transparent.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909655"/>
            <a:ext cx="927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B9C97560-FA0F-3A50-0825-CFBA167DF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Introduction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504" y="1689382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93" y="1603340"/>
            <a:ext cx="8651875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platform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connects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farmers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directly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without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intermediaries.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504" y="2557707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493" y="2471664"/>
            <a:ext cx="8636000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ensure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transparency,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trust,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security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transactions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using blockchain-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contracts.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504" y="3426018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493" y="3339975"/>
            <a:ext cx="8250555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real-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availability,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payments,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automated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agreements.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504" y="4294342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0493" y="4208300"/>
            <a:ext cx="8500745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promote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cost-effective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resource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utilization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empower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small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marginal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through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shared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agricultural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machinery.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504" y="5162667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0493" y="5076625"/>
            <a:ext cx="8249920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establish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scalable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modular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architecture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future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integration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65" dirty="0">
                <a:latin typeface="Times New Roman"/>
                <a:cs typeface="Times New Roman"/>
              </a:rPr>
              <a:t> IoT-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tracking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and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AI-</a:t>
            </a:r>
            <a:r>
              <a:rPr sz="2100" dirty="0">
                <a:latin typeface="Times New Roman"/>
                <a:cs typeface="Times New Roman"/>
              </a:rPr>
              <a:t>driven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analytics.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4700" y="3035062"/>
            <a:ext cx="3531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Literature</a:t>
            </a:r>
            <a:r>
              <a:rPr spc="-180" dirty="0"/>
              <a:t> </a:t>
            </a:r>
            <a:r>
              <a:rPr spc="-10" dirty="0"/>
              <a:t>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7521" y="117007"/>
          <a:ext cx="8881108" cy="7357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58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Application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46710" marR="340360" indent="9715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46710" marR="337820" indent="-38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2600" marR="239395" indent="-23812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Performance Metric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1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23189" marR="1181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allowing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farmers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 rent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secure, transparent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transactions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potential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availability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IoT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345" marR="88265" indent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4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Smart 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67640" marR="16319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Contract-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Management Algorithm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0495" marR="144145" indent="-127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Contract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uptime, User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Adoption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9865" marR="185420" indent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pilot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scale;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7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8430" marR="13271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digital platform/mobile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streamline 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farmers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0965" marR="95250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user-friendly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interface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fields,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views,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buttons,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dropdown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menus,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distinct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functionalities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farmers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3505" marR="98425" indent="-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bee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colony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(ABC),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colony optimization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(ACO),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(QoS),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max-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min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(MMAS)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7800" marR="1720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(84.6%),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Match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Rate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(84.6%),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4005" marR="28829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Engagement (86.9%),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3350" marR="127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Completion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6045" marR="10096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enhancing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intelligent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analytics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 demand prediction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74408" y="216728"/>
          <a:ext cx="9319258" cy="6873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08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Application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3540" marR="377190" indent="9715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3540" marR="374650" indent="-38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19430" marR="275590" indent="-23812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Performance Metric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95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795" marR="132080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Monitoring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Management,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Supply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Chain Management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3335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real-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blockchain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secure,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tamper-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proof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logging.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2245" marR="176530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Aggregation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Threshold-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8750" marR="1536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Latency.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Throughput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144145" indent="-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Demonstrates blockchain’s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transparency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agriculture,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7950" marR="102870" indent="-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Decentralized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Rental, Peer-to-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peer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 marR="9271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blockchain-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peer-to-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peer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central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intermediaries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sharing systems.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7325" marR="1822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Contract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Agreements, Decentralized Matching Algorithms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86385" marR="280670" indent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Transaction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Rate, Matching Efficiency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7480" marR="15240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Applicable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case.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7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 marR="9080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Authentification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9860" marR="1454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micro-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rentals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ownership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3208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blockchain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supply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chain transparency,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enabling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trust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traceability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trade.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220" marR="104139" indent="127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Consensus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(e.g., Practical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Byzantine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Fault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Tolerance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PBFT)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7965" marR="2228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Traceability Accuracy,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Immutability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8110" marR="112395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blockchain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adoption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agriculture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not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 rentals.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4136" y="2048105"/>
            <a:ext cx="119380" cy="787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95934" y="2065021"/>
            <a:ext cx="8592820" cy="377380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/>
              <a:t>High</a:t>
            </a:r>
            <a:r>
              <a:rPr spc="-50" dirty="0"/>
              <a:t> </a:t>
            </a:r>
            <a:r>
              <a:rPr dirty="0"/>
              <a:t>transaction</a:t>
            </a:r>
            <a:r>
              <a:rPr spc="-45" dirty="0"/>
              <a:t> </a:t>
            </a:r>
            <a:r>
              <a:rPr dirty="0"/>
              <a:t>costs</a:t>
            </a:r>
            <a:r>
              <a:rPr spc="-45" dirty="0"/>
              <a:t> </a:t>
            </a:r>
            <a:r>
              <a:rPr dirty="0"/>
              <a:t>due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centralized</a:t>
            </a:r>
            <a:r>
              <a:rPr spc="-45" dirty="0"/>
              <a:t> </a:t>
            </a:r>
            <a:r>
              <a:rPr spc="-10" dirty="0"/>
              <a:t>intermediaries.</a:t>
            </a:r>
          </a:p>
          <a:p>
            <a:pPr marL="12700" marR="5080">
              <a:lnSpc>
                <a:spcPct val="100000"/>
              </a:lnSpc>
              <a:spcBef>
                <a:spcPts val="480"/>
              </a:spcBef>
            </a:pPr>
            <a:r>
              <a:rPr dirty="0"/>
              <a:t>Lack</a:t>
            </a:r>
            <a:r>
              <a:rPr spc="165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dirty="0"/>
              <a:t>trust</a:t>
            </a:r>
            <a:r>
              <a:rPr spc="170" dirty="0"/>
              <a:t> </a:t>
            </a:r>
            <a:r>
              <a:rPr dirty="0"/>
              <a:t>and</a:t>
            </a:r>
            <a:r>
              <a:rPr spc="165" dirty="0"/>
              <a:t> </a:t>
            </a:r>
            <a:r>
              <a:rPr dirty="0"/>
              <a:t>transparency</a:t>
            </a:r>
            <a:r>
              <a:rPr spc="165" dirty="0"/>
              <a:t> </a:t>
            </a:r>
            <a:r>
              <a:rPr dirty="0"/>
              <a:t>in</a:t>
            </a:r>
            <a:r>
              <a:rPr spc="170" dirty="0"/>
              <a:t> </a:t>
            </a:r>
            <a:r>
              <a:rPr dirty="0"/>
              <a:t>agreements</a:t>
            </a:r>
            <a:r>
              <a:rPr spc="165" dirty="0"/>
              <a:t> </a:t>
            </a:r>
            <a:r>
              <a:rPr dirty="0"/>
              <a:t>between</a:t>
            </a:r>
            <a:r>
              <a:rPr spc="170" dirty="0"/>
              <a:t> </a:t>
            </a:r>
            <a:r>
              <a:rPr dirty="0"/>
              <a:t>farmers</a:t>
            </a:r>
            <a:r>
              <a:rPr spc="170" dirty="0"/>
              <a:t> </a:t>
            </a:r>
            <a:r>
              <a:rPr dirty="0"/>
              <a:t>and</a:t>
            </a:r>
            <a:r>
              <a:rPr spc="165" dirty="0"/>
              <a:t> </a:t>
            </a:r>
            <a:r>
              <a:rPr spc="-10" dirty="0"/>
              <a:t>equipment owners.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Unregulated</a:t>
            </a:r>
            <a:r>
              <a:rPr spc="-60" dirty="0"/>
              <a:t> </a:t>
            </a:r>
            <a:r>
              <a:rPr dirty="0"/>
              <a:t>pricing</a:t>
            </a:r>
            <a:r>
              <a:rPr spc="-50" dirty="0"/>
              <a:t> </a:t>
            </a:r>
            <a:r>
              <a:rPr dirty="0"/>
              <a:t>models</a:t>
            </a:r>
            <a:r>
              <a:rPr spc="-60" dirty="0"/>
              <a:t> </a:t>
            </a:r>
            <a:r>
              <a:rPr dirty="0"/>
              <a:t>often</a:t>
            </a:r>
            <a:r>
              <a:rPr spc="-55" dirty="0"/>
              <a:t> </a:t>
            </a:r>
            <a:r>
              <a:rPr dirty="0"/>
              <a:t>lead</a:t>
            </a:r>
            <a:r>
              <a:rPr spc="-5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unfair</a:t>
            </a:r>
            <a:r>
              <a:rPr spc="-50" dirty="0"/>
              <a:t> </a:t>
            </a:r>
            <a:r>
              <a:rPr spc="-10" dirty="0"/>
              <a:t>costs.</a:t>
            </a:r>
          </a:p>
          <a:p>
            <a:pPr marL="12700" marR="1658620">
              <a:lnSpc>
                <a:spcPct val="119000"/>
              </a:lnSpc>
            </a:pPr>
            <a:r>
              <a:rPr dirty="0"/>
              <a:t>Limited</a:t>
            </a:r>
            <a:r>
              <a:rPr spc="-65" dirty="0"/>
              <a:t> </a:t>
            </a:r>
            <a:r>
              <a:rPr dirty="0"/>
              <a:t>access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advanced</a:t>
            </a:r>
            <a:r>
              <a:rPr spc="-60" dirty="0"/>
              <a:t> </a:t>
            </a:r>
            <a:r>
              <a:rPr dirty="0"/>
              <a:t>machinery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rural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remote</a:t>
            </a:r>
            <a:r>
              <a:rPr spc="-60" dirty="0"/>
              <a:t> </a:t>
            </a:r>
            <a:r>
              <a:rPr spc="-10" dirty="0"/>
              <a:t>areas. </a:t>
            </a:r>
            <a:r>
              <a:rPr dirty="0"/>
              <a:t>Absence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65" dirty="0"/>
              <a:t> </a:t>
            </a:r>
            <a:r>
              <a:rPr dirty="0"/>
              <a:t>monitoring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equipment</a:t>
            </a:r>
            <a:r>
              <a:rPr spc="-60" dirty="0"/>
              <a:t> </a:t>
            </a:r>
            <a:r>
              <a:rPr spc="-10" dirty="0"/>
              <a:t>usage.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proper</a:t>
            </a:r>
            <a:r>
              <a:rPr spc="-55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dispute</a:t>
            </a:r>
            <a:r>
              <a:rPr spc="-60" dirty="0"/>
              <a:t> </a:t>
            </a:r>
            <a:r>
              <a:rPr dirty="0"/>
              <a:t>resolution</a:t>
            </a:r>
            <a:r>
              <a:rPr spc="-60" dirty="0"/>
              <a:t> </a:t>
            </a:r>
            <a:r>
              <a:rPr dirty="0"/>
              <a:t>between</a:t>
            </a:r>
            <a:r>
              <a:rPr spc="-60" dirty="0"/>
              <a:t> </a:t>
            </a:r>
            <a:r>
              <a:rPr spc="-10" dirty="0"/>
              <a:t>parties.</a:t>
            </a:r>
          </a:p>
          <a:p>
            <a:pPr marL="12700" marR="563245">
              <a:lnSpc>
                <a:spcPct val="119000"/>
              </a:lnSpc>
            </a:pPr>
            <a:r>
              <a:rPr dirty="0"/>
              <a:t>Manual</a:t>
            </a:r>
            <a:r>
              <a:rPr spc="-50" dirty="0"/>
              <a:t> </a:t>
            </a:r>
            <a:r>
              <a:rPr spc="-20" dirty="0"/>
              <a:t>record-</a:t>
            </a:r>
            <a:r>
              <a:rPr dirty="0"/>
              <a:t>keeping</a:t>
            </a:r>
            <a:r>
              <a:rPr spc="-45" dirty="0"/>
              <a:t> </a:t>
            </a:r>
            <a:r>
              <a:rPr dirty="0"/>
              <a:t>makes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system</a:t>
            </a:r>
            <a:r>
              <a:rPr spc="-40" dirty="0"/>
              <a:t> </a:t>
            </a:r>
            <a:r>
              <a:rPr dirty="0"/>
              <a:t>prone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fraud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manipulation. </a:t>
            </a:r>
            <a:r>
              <a:rPr spc="-20" dirty="0"/>
              <a:t>Middlemen-</a:t>
            </a:r>
            <a:r>
              <a:rPr dirty="0"/>
              <a:t>driven</a:t>
            </a:r>
            <a:r>
              <a:rPr spc="-65" dirty="0"/>
              <a:t> </a:t>
            </a:r>
            <a:r>
              <a:rPr dirty="0"/>
              <a:t>processes</a:t>
            </a:r>
            <a:r>
              <a:rPr spc="-65" dirty="0"/>
              <a:t> </a:t>
            </a:r>
            <a:r>
              <a:rPr dirty="0"/>
              <a:t>increase</a:t>
            </a:r>
            <a:r>
              <a:rPr spc="-65" dirty="0"/>
              <a:t> </a:t>
            </a:r>
            <a:r>
              <a:rPr dirty="0"/>
              <a:t>dependency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exploitation.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Farmers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small</a:t>
            </a:r>
            <a:r>
              <a:rPr spc="-60" dirty="0"/>
              <a:t> </a:t>
            </a:r>
            <a:r>
              <a:rPr dirty="0"/>
              <a:t>landholdings</a:t>
            </a:r>
            <a:r>
              <a:rPr spc="-6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often</a:t>
            </a:r>
            <a:r>
              <a:rPr spc="-60" dirty="0"/>
              <a:t> </a:t>
            </a:r>
            <a:r>
              <a:rPr dirty="0"/>
              <a:t>excluded</a:t>
            </a:r>
            <a:r>
              <a:rPr spc="-60" dirty="0"/>
              <a:t> </a:t>
            </a:r>
            <a:r>
              <a:rPr dirty="0"/>
              <a:t>due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rigid</a:t>
            </a:r>
            <a:r>
              <a:rPr spc="-60" dirty="0"/>
              <a:t> </a:t>
            </a:r>
            <a:r>
              <a:rPr dirty="0"/>
              <a:t>rental</a:t>
            </a:r>
            <a:r>
              <a:rPr spc="-60" dirty="0"/>
              <a:t> </a:t>
            </a:r>
            <a:r>
              <a:rPr spc="-10" dirty="0"/>
              <a:t>terms.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136" y="3129904"/>
            <a:ext cx="119380" cy="26917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1B14ED5-4947-4527-2049-21F40CD81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630112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Limitations of Existing Systems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9900" y="1419225"/>
            <a:ext cx="8933815" cy="3062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farming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faces</a:t>
            </a:r>
            <a:r>
              <a:rPr sz="2100" spc="1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challenges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high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labor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costs,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1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scarcity,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inefficient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resource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allocation,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especially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small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marginal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farmers.The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objective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allows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share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demand,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optimizing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usage,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reducing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costs,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improving productivity.</a:t>
            </a: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aim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easy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machinery,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real-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tracking,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payments,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114" dirty="0">
                <a:latin typeface="Times New Roman"/>
                <a:cs typeface="Times New Roman"/>
              </a:rPr>
              <a:t>  </a:t>
            </a:r>
            <a:r>
              <a:rPr sz="2100" spc="-10" dirty="0">
                <a:latin typeface="Times New Roman"/>
                <a:cs typeface="Times New Roman"/>
              </a:rPr>
              <a:t>data-</a:t>
            </a:r>
            <a:r>
              <a:rPr sz="2100" dirty="0">
                <a:latin typeface="Times New Roman"/>
                <a:cs typeface="Times New Roman"/>
              </a:rPr>
              <a:t>driven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insights</a:t>
            </a:r>
            <a:r>
              <a:rPr sz="2100" spc="11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optimize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farming</a:t>
            </a:r>
            <a:r>
              <a:rPr sz="2100" spc="11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operations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spc="-10" dirty="0">
                <a:latin typeface="Times New Roman"/>
                <a:cs typeface="Times New Roman"/>
              </a:rPr>
              <a:t>using </a:t>
            </a: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technology.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6CBC3188-B0CF-3EF3-C957-CBC819DDB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Problem Statement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8418" y="1647825"/>
            <a:ext cx="8737600" cy="29345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Architecture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Layers</a:t>
            </a:r>
            <a:endParaRPr sz="2100" dirty="0">
              <a:latin typeface="Times New Roman"/>
              <a:cs typeface="Times New Roman"/>
            </a:endParaRPr>
          </a:p>
          <a:p>
            <a:pPr marL="469265" indent="-33655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469265" algn="l"/>
              </a:tabLst>
            </a:pPr>
            <a:r>
              <a:rPr sz="2100" b="1" dirty="0">
                <a:latin typeface="Times New Roman"/>
                <a:cs typeface="Times New Roman"/>
              </a:rPr>
              <a:t>Frontend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Layer</a:t>
            </a:r>
            <a:r>
              <a:rPr sz="2100" b="1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Web/mobile </a:t>
            </a:r>
            <a:r>
              <a:rPr sz="2100" dirty="0">
                <a:latin typeface="Times New Roman"/>
                <a:cs typeface="Times New Roman"/>
              </a:rPr>
              <a:t>interface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Admins.</a:t>
            </a:r>
            <a:endParaRPr sz="2100" dirty="0">
              <a:latin typeface="Times New Roman"/>
              <a:cs typeface="Times New Roman"/>
            </a:endParaRPr>
          </a:p>
          <a:p>
            <a:pPr marL="469265" indent="-33655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469265" algn="l"/>
              </a:tabLst>
            </a:pPr>
            <a:r>
              <a:rPr sz="2100" b="1" dirty="0">
                <a:latin typeface="Times New Roman"/>
                <a:cs typeface="Times New Roman"/>
              </a:rPr>
              <a:t>Backend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Layer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Handles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APIs,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logic,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notifications,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management.</a:t>
            </a:r>
            <a:endParaRPr sz="2100" dirty="0">
              <a:latin typeface="Times New Roman"/>
              <a:cs typeface="Times New Roman"/>
            </a:endParaRPr>
          </a:p>
          <a:p>
            <a:pPr marL="469265" indent="-33655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469265" algn="l"/>
              </a:tabLst>
            </a:pPr>
            <a:r>
              <a:rPr lang="en-US" sz="2100" b="1" dirty="0">
                <a:latin typeface="Times New Roman"/>
                <a:cs typeface="Times New Roman"/>
              </a:rPr>
              <a:t>Blockchain</a:t>
            </a:r>
            <a:r>
              <a:rPr lang="en-US" sz="2100" b="1" spc="-35" dirty="0">
                <a:latin typeface="Times New Roman"/>
                <a:cs typeface="Times New Roman"/>
              </a:rPr>
              <a:t> </a:t>
            </a:r>
            <a:r>
              <a:rPr lang="en-US" sz="2100" b="1" dirty="0">
                <a:latin typeface="Times New Roman"/>
                <a:cs typeface="Times New Roman"/>
              </a:rPr>
              <a:t>Layer</a:t>
            </a:r>
            <a:r>
              <a:rPr lang="en-US" sz="2100" b="1" spc="-1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–</a:t>
            </a:r>
            <a:r>
              <a:rPr lang="en-US" sz="2100" spc="-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Ethereum</a:t>
            </a:r>
            <a:r>
              <a:rPr lang="en-US" sz="2100" spc="-3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executes</a:t>
            </a:r>
            <a:r>
              <a:rPr lang="en-US" sz="2100" spc="-3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smart</a:t>
            </a:r>
            <a:r>
              <a:rPr lang="en-US" sz="2100" spc="-3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contracts</a:t>
            </a:r>
            <a:r>
              <a:rPr lang="en-US" sz="2100" spc="-3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and</a:t>
            </a:r>
            <a:r>
              <a:rPr lang="en-US" sz="2100" spc="-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stores</a:t>
            </a:r>
            <a:r>
              <a:rPr lang="en-US" sz="2100" spc="-3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transactions</a:t>
            </a:r>
            <a:r>
              <a:rPr lang="en-US" sz="2100" spc="-25" dirty="0">
                <a:latin typeface="Times New Roman"/>
                <a:cs typeface="Times New Roman"/>
              </a:rPr>
              <a:t> </a:t>
            </a:r>
            <a:r>
              <a:rPr lang="en-US" sz="2100" spc="-10" dirty="0">
                <a:latin typeface="Times New Roman"/>
                <a:cs typeface="Times New Roman"/>
              </a:rPr>
              <a:t>immutably.</a:t>
            </a:r>
            <a:endParaRPr sz="2100" dirty="0">
              <a:latin typeface="Times New Roman"/>
              <a:cs typeface="Times New Roman"/>
            </a:endParaRPr>
          </a:p>
          <a:p>
            <a:pPr marL="469900" marR="5080" indent="-337185">
              <a:lnSpc>
                <a:spcPct val="114900"/>
              </a:lnSpc>
              <a:buAutoNum type="arabicPeriod"/>
              <a:tabLst>
                <a:tab pos="469900" algn="l"/>
              </a:tabLst>
            </a:pPr>
            <a:r>
              <a:rPr sz="2100" b="1" dirty="0">
                <a:latin typeface="Times New Roman"/>
                <a:cs typeface="Times New Roman"/>
              </a:rPr>
              <a:t>Data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Storage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Layer</a:t>
            </a:r>
            <a:r>
              <a:rPr sz="2100" b="1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info,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history,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ratings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(off-chain database).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6CE7B5-35C8-B6B0-B48B-31CC558353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System Design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1495425"/>
            <a:ext cx="8627110" cy="319318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Equipment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Search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browses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selects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available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machinery.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Rental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Request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request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sent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owner;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availability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checked.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spc="-10" dirty="0">
                <a:latin typeface="Times New Roman"/>
                <a:cs typeface="Times New Roman"/>
              </a:rPr>
              <a:t>Rental</a:t>
            </a:r>
            <a:r>
              <a:rPr sz="2100" b="1" spc="-114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Agreement</a:t>
            </a:r>
            <a:r>
              <a:rPr sz="2100" b="1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created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terms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conditions.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Payment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via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MetaMask;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locks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payment.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Equipment</a:t>
            </a:r>
            <a:r>
              <a:rPr sz="2100" b="1" spc="-5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Usage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equipment;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usage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logged.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Payment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Release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releases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after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completion.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Feedback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&amp;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Rating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reviews;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off-</a:t>
            </a:r>
            <a:r>
              <a:rPr sz="2100" dirty="0">
                <a:latin typeface="Times New Roman"/>
                <a:cs typeface="Times New Roman"/>
              </a:rPr>
              <a:t>chain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reputation.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7F2867E-6F42-5EC3-21F0-AE8748EA0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System Flow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484587"/>
            <a:ext cx="494030" cy="3075305"/>
          </a:xfrm>
          <a:custGeom>
            <a:avLst/>
            <a:gdLst/>
            <a:ahLst/>
            <a:cxnLst/>
            <a:rect l="l" t="t" r="r" b="b"/>
            <a:pathLst>
              <a:path w="494030" h="3075304">
                <a:moveTo>
                  <a:pt x="0" y="0"/>
                </a:moveTo>
                <a:lnTo>
                  <a:pt x="0" y="3075052"/>
                </a:lnTo>
                <a:lnTo>
                  <a:pt x="493493" y="3075052"/>
                </a:lnTo>
                <a:lnTo>
                  <a:pt x="0" y="0"/>
                </a:lnTo>
                <a:close/>
              </a:path>
            </a:pathLst>
          </a:custGeom>
          <a:solidFill>
            <a:srgbClr val="5ECAE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4" name="object 4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182" y="200025"/>
            <a:ext cx="4479480" cy="6719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F05F9-F366-B42E-A268-D564F73BE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1373071"/>
            <a:ext cx="6096000" cy="42179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9F14-3273-42FC-F9C0-27FB9B82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5C5F071C-EFFE-5836-C77D-A3914EA11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Architecture Diagram</a:t>
            </a:r>
            <a:endParaRPr spc="-1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8C246-5286-E911-168B-DD942691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8" r="3548"/>
          <a:stretch>
            <a:fillRect/>
          </a:stretch>
        </p:blipFill>
        <p:spPr>
          <a:xfrm>
            <a:off x="33362" y="1495425"/>
            <a:ext cx="10050438" cy="491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1738" y="1311836"/>
            <a:ext cx="209296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Frontend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936" y="1651047"/>
            <a:ext cx="179070" cy="1077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938" y="1665448"/>
            <a:ext cx="6881495" cy="14672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b="1" spc="-20" dirty="0">
                <a:latin typeface="Times New Roman"/>
                <a:cs typeface="Times New Roman"/>
              </a:rPr>
              <a:t>Tech: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HTML/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CSS/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JS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-1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User-</a:t>
            </a:r>
            <a:r>
              <a:rPr sz="2100" dirty="0">
                <a:latin typeface="Times New Roman"/>
                <a:cs typeface="Times New Roman"/>
              </a:rPr>
              <a:t>friendly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interface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admins. </a:t>
            </a:r>
            <a:r>
              <a:rPr sz="2100" b="1" dirty="0">
                <a:latin typeface="Times New Roman"/>
                <a:cs typeface="Times New Roman"/>
              </a:rPr>
              <a:t>Customization:</a:t>
            </a:r>
            <a:r>
              <a:rPr sz="2100" b="1" spc="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Real-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dashboards, notifications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 </a:t>
            </a:r>
            <a:r>
              <a:rPr sz="2100" spc="-50" dirty="0">
                <a:latin typeface="Times New Roman"/>
                <a:cs typeface="Times New Roman"/>
              </a:rPr>
              <a:t>&amp; </a:t>
            </a:r>
            <a:r>
              <a:rPr sz="2100" spc="-10" dirty="0">
                <a:latin typeface="Times New Roman"/>
                <a:cs typeface="Times New Roman"/>
              </a:rPr>
              <a:t>payment.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738" y="3445436"/>
            <a:ext cx="201422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imes New Roman"/>
                <a:cs typeface="Times New Roman"/>
              </a:rPr>
              <a:t>Backend</a:t>
            </a:r>
            <a:r>
              <a:rPr sz="2100" b="1" spc="-12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936" y="3804205"/>
            <a:ext cx="179070" cy="1077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938" y="3818606"/>
            <a:ext cx="6316980" cy="18389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b="1" spc="-20" dirty="0">
                <a:latin typeface="Times New Roman"/>
                <a:cs typeface="Times New Roman"/>
              </a:rPr>
              <a:t>Tech:</a:t>
            </a:r>
            <a:r>
              <a:rPr sz="2100" b="1" spc="-9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Node.js</a:t>
            </a:r>
            <a:r>
              <a:rPr lang="en-US" sz="2100" spc="-10" dirty="0">
                <a:latin typeface="Times New Roman"/>
                <a:cs typeface="Times New Roman"/>
              </a:rPr>
              <a:t>, MongoDB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Handles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APIs,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bookings, user </a:t>
            </a:r>
            <a:r>
              <a:rPr sz="2100" spc="-10" dirty="0">
                <a:latin typeface="Times New Roman"/>
                <a:cs typeface="Times New Roman"/>
              </a:rPr>
              <a:t>management. </a:t>
            </a:r>
            <a:r>
              <a:rPr sz="2100" b="1" dirty="0">
                <a:latin typeface="Times New Roman"/>
                <a:cs typeface="Times New Roman"/>
              </a:rPr>
              <a:t>Customization: </a:t>
            </a:r>
            <a:r>
              <a:rPr sz="2100" dirty="0">
                <a:latin typeface="Times New Roman"/>
                <a:cs typeface="Times New Roman"/>
              </a:rPr>
              <a:t>Optimized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&amp;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modular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rental services</a:t>
            </a:r>
            <a:r>
              <a:rPr lang="en-US" sz="2100" spc="-10" dirty="0">
                <a:latin typeface="Times New Roman"/>
                <a:cs typeface="Times New Roman"/>
              </a:rPr>
              <a:t>.</a:t>
            </a:r>
            <a:endParaRPr lang="en-IN" sz="2100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738" y="5579036"/>
            <a:ext cx="233489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imes New Roman"/>
                <a:cs typeface="Times New Roman"/>
              </a:rPr>
              <a:t>Blockchain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936" y="5957363"/>
            <a:ext cx="179070" cy="1077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8938" y="5971765"/>
            <a:ext cx="6945630" cy="14672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b="1" spc="-20" dirty="0">
                <a:latin typeface="Times New Roman"/>
                <a:cs typeface="Times New Roman"/>
              </a:rPr>
              <a:t>Tech:</a:t>
            </a:r>
            <a:r>
              <a:rPr sz="2100" b="1" spc="-9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Ethereum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immutable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transactions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via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contracts. </a:t>
            </a:r>
            <a:r>
              <a:rPr sz="2100" b="1" dirty="0">
                <a:latin typeface="Times New Roman"/>
                <a:cs typeface="Times New Roman"/>
              </a:rPr>
              <a:t>Customization:</a:t>
            </a:r>
            <a:r>
              <a:rPr sz="2100" b="1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Automated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agreements,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conditional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payment </a:t>
            </a:r>
            <a:r>
              <a:rPr sz="2100" dirty="0">
                <a:latin typeface="Times New Roman"/>
                <a:cs typeface="Times New Roman"/>
              </a:rPr>
              <a:t>release,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rating</a:t>
            </a:r>
            <a:r>
              <a:rPr sz="2100" spc="-10" dirty="0">
                <a:latin typeface="Times New Roman"/>
                <a:cs typeface="Times New Roman"/>
              </a:rPr>
              <a:t> system.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5E71D474-2B83-12F7-32CE-EC3B8E206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Technologies &amp; Methodologies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69900" y="1750583"/>
            <a:ext cx="257937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/>
              <a:t>Data</a:t>
            </a:r>
            <a:r>
              <a:rPr sz="2100" spc="-45" dirty="0"/>
              <a:t> </a:t>
            </a:r>
            <a:r>
              <a:rPr sz="2100" dirty="0"/>
              <a:t>Storage</a:t>
            </a:r>
            <a:r>
              <a:rPr sz="2100" spc="-45" dirty="0"/>
              <a:t> </a:t>
            </a:r>
            <a:r>
              <a:rPr sz="2100" spc="-10" dirty="0"/>
              <a:t>Layer</a:t>
            </a:r>
            <a:endParaRPr sz="2100" dirty="0"/>
          </a:p>
        </p:txBody>
      </p:sp>
      <p:sp>
        <p:nvSpPr>
          <p:cNvPr id="14" name="object 14"/>
          <p:cNvSpPr txBox="1"/>
          <p:nvPr/>
        </p:nvSpPr>
        <p:spPr>
          <a:xfrm>
            <a:off x="603098" y="2254286"/>
            <a:ext cx="179070" cy="727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100" y="2268688"/>
            <a:ext cx="6506845" cy="14823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bookings,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feedback. </a:t>
            </a:r>
            <a:r>
              <a:rPr sz="2100" b="1" dirty="0">
                <a:latin typeface="Times New Roman"/>
                <a:cs typeface="Times New Roman"/>
              </a:rPr>
              <a:t>Customization: </a:t>
            </a:r>
            <a:r>
              <a:rPr sz="2100" dirty="0">
                <a:latin typeface="Times New Roman"/>
                <a:cs typeface="Times New Roman"/>
              </a:rPr>
              <a:t>Indexed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tables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fast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sync </a:t>
            </a:r>
            <a:r>
              <a:rPr sz="2100" spc="-10" dirty="0">
                <a:latin typeface="Times New Roman"/>
                <a:cs typeface="Times New Roman"/>
              </a:rPr>
              <a:t>logs.</a:t>
            </a:r>
            <a:endParaRPr lang="en-US" sz="2100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  <a:spcBef>
                <a:spcPts val="100"/>
              </a:spcBef>
            </a:pP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900" y="3553107"/>
            <a:ext cx="243268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Proposed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Changes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3098" y="3902745"/>
            <a:ext cx="179070" cy="727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Times New Roman"/>
                <a:cs typeface="Times New Roman"/>
              </a:rPr>
              <a:t>●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Times New Roman"/>
                <a:cs typeface="Times New Roman"/>
              </a:rPr>
              <a:t>●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7100" y="3918926"/>
            <a:ext cx="6821805" cy="7239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dirty="0">
                <a:latin typeface="Times New Roman"/>
                <a:cs typeface="Times New Roman"/>
              </a:rPr>
              <a:t>Automated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notifications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&amp;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dispute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handling.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dirty="0">
                <a:latin typeface="Times New Roman"/>
                <a:cs typeface="Times New Roman"/>
              </a:rPr>
              <a:t>Modular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architecture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future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features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like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dynamic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pricing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6940" y="3035062"/>
            <a:ext cx="3148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6F5C19-3A58-9C42-DA39-5A38E4BE5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38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76622-2633-4A38-6089-16808AB06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3800" cy="756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32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FB306-7C7B-AFC2-9CE7-6F5EA381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3800" cy="756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35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49595" y="-3175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47157" y="125228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433705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4504" y="169585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493" y="1599034"/>
            <a:ext cx="8559165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Successfully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functional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web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application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for </a:t>
            </a:r>
            <a:r>
              <a:rPr sz="2100" dirty="0">
                <a:latin typeface="Times New Roman"/>
                <a:cs typeface="Times New Roman"/>
              </a:rPr>
              <a:t>agricultural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using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Ethereum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contracts.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504" y="2646987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0493" y="2550150"/>
            <a:ext cx="8124825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Achieved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tamper-</a:t>
            </a:r>
            <a:r>
              <a:rPr sz="2100" dirty="0">
                <a:latin typeface="Times New Roman"/>
                <a:cs typeface="Times New Roman"/>
              </a:rPr>
              <a:t>proof,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transparent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transactions </a:t>
            </a:r>
            <a:r>
              <a:rPr sz="2100" dirty="0">
                <a:latin typeface="Times New Roman"/>
                <a:cs typeface="Times New Roman"/>
              </a:rPr>
              <a:t>eliminating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0" dirty="0">
                <a:latin typeface="Times New Roman"/>
                <a:cs typeface="Times New Roman"/>
              </a:rPr>
              <a:t> third-</a:t>
            </a:r>
            <a:r>
              <a:rPr sz="2100" dirty="0">
                <a:latin typeface="Times New Roman"/>
                <a:cs typeface="Times New Roman"/>
              </a:rPr>
              <a:t>party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mediation.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4504" y="3598104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493" y="3501266"/>
            <a:ext cx="8643620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Enabled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seamless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feedback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mechanisms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</a:t>
            </a:r>
            <a:r>
              <a:rPr sz="2100" spc="-25" dirty="0">
                <a:latin typeface="Times New Roman"/>
                <a:cs typeface="Times New Roman"/>
              </a:rPr>
              <a:t>user-</a:t>
            </a:r>
            <a:r>
              <a:rPr sz="2100" dirty="0">
                <a:latin typeface="Times New Roman"/>
                <a:cs typeface="Times New Roman"/>
              </a:rPr>
              <a:t>friendly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interface.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504" y="454921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0493" y="4452394"/>
            <a:ext cx="7332980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Demonstrated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trustless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automation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agreements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conditional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release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through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blockchain.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504" y="5500347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0493" y="5403510"/>
            <a:ext cx="8149590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Laid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groundwork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future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enhancements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like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IoT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integration, </a:t>
            </a:r>
            <a:r>
              <a:rPr sz="2100" dirty="0">
                <a:latin typeface="Times New Roman"/>
                <a:cs typeface="Times New Roman"/>
              </a:rPr>
              <a:t>predictive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maintenance,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AI-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demand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forecasting.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64501" y="1347384"/>
            <a:ext cx="7370445" cy="3526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510" algn="just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conclusion,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GreenEquip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project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successfully </a:t>
            </a:r>
            <a:r>
              <a:rPr sz="2100" dirty="0">
                <a:latin typeface="Times New Roman"/>
                <a:cs typeface="Times New Roman"/>
              </a:rPr>
              <a:t>demonstrates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development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functional,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decentralized </a:t>
            </a:r>
            <a:r>
              <a:rPr sz="2100" dirty="0">
                <a:latin typeface="Times New Roman"/>
                <a:cs typeface="Times New Roman"/>
              </a:rPr>
              <a:t>application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peer-</a:t>
            </a:r>
            <a:r>
              <a:rPr sz="2100" dirty="0">
                <a:latin typeface="Times New Roman"/>
                <a:cs typeface="Times New Roman"/>
              </a:rPr>
              <a:t>to-peer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agricultural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rental marketplace.</a:t>
            </a:r>
            <a:endParaRPr sz="2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100"/>
              </a:spcBef>
            </a:pP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integrating 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user-</a:t>
            </a:r>
            <a:r>
              <a:rPr sz="2100" dirty="0">
                <a:latin typeface="Times New Roman"/>
                <a:cs typeface="Times New Roman"/>
              </a:rPr>
              <a:t>friendly frontend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robust </a:t>
            </a:r>
            <a:r>
              <a:rPr sz="2100" dirty="0">
                <a:latin typeface="Times New Roman"/>
                <a:cs typeface="Times New Roman"/>
              </a:rPr>
              <a:t>Ethereum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platform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delivers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core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features </a:t>
            </a:r>
            <a:r>
              <a:rPr sz="2100" dirty="0">
                <a:latin typeface="Times New Roman"/>
                <a:cs typeface="Times New Roman"/>
              </a:rPr>
              <a:t>including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registration,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weekly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dynamic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filtering.</a:t>
            </a:r>
            <a:endParaRPr sz="2100" dirty="0">
              <a:latin typeface="Times New Roman"/>
              <a:cs typeface="Times New Roman"/>
            </a:endParaRPr>
          </a:p>
          <a:p>
            <a:pPr marL="12700" marR="704850" algn="just">
              <a:lnSpc>
                <a:spcPct val="100000"/>
              </a:lnSpc>
              <a:spcBef>
                <a:spcPts val="1100"/>
              </a:spcBef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project's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key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innovation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to </a:t>
            </a:r>
            <a:r>
              <a:rPr sz="2100" dirty="0">
                <a:latin typeface="Times New Roman"/>
                <a:cs typeface="Times New Roman"/>
              </a:rPr>
              <a:t>remove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central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intermediary,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creating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</a:t>
            </a:r>
            <a:r>
              <a:rPr sz="2100" dirty="0">
                <a:latin typeface="Times New Roman"/>
                <a:cs typeface="Times New Roman"/>
              </a:rPr>
              <a:t>transparent,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efficient,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trustless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ecosystem.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851D8030-89E5-0009-3D14-6EE7E8217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Conclusion</a:t>
            </a: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80998"/>
              </p:ext>
            </p:extLst>
          </p:nvPr>
        </p:nvGraphicFramePr>
        <p:xfrm>
          <a:off x="0" y="932042"/>
          <a:ext cx="10079355" cy="642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Reference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64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[1]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51610" marR="329565" indent="-11201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Smart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Farming: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Securing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Farmers Using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Chain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Technology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IOT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015365" marR="242570" indent="-770255">
                        <a:lnSpc>
                          <a:spcPct val="100000"/>
                        </a:lnSpc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P.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Praveen,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Mohammed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Ali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Shaik,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T.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Sampath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Kumar,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59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Tanupriya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Choudhury,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(2021)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400" dirty="0">
                        <a:solidFill>
                          <a:schemeClr val="accent5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91440" marR="135890" algn="just">
                        <a:lnSpc>
                          <a:spcPts val="1400"/>
                        </a:lnSpc>
                      </a:pPr>
                      <a:r>
                        <a:rPr lang="en-IN" sz="1400" u="sng" dirty="0">
                          <a:solidFill>
                            <a:schemeClr val="accent5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</a:rPr>
                        <a:t>https://www.researchgate.net/publication/352377264_Smart_Farming_Securing_Farmers_Using_Block_Chain_Technology_and_IOT</a:t>
                      </a:r>
                      <a:endParaRPr sz="1400" dirty="0">
                        <a:solidFill>
                          <a:schemeClr val="accent5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[2]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209550" marR="20637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Ethical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Marketing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Blockchain-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Sharing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Economy: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Theoretical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Integration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Guiding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Insights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Published: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December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2021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Volume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183,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pages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1113–1140,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(2023)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 marR="107950" algn="just">
                        <a:lnSpc>
                          <a:spcPts val="1400"/>
                        </a:lnSpc>
                        <a:spcBef>
                          <a:spcPts val="5"/>
                        </a:spcBef>
                      </a:pP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Ethical Marketing</a:t>
                      </a:r>
                      <a:r>
                        <a:rPr sz="1400" u="sng" spc="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in</a:t>
                      </a:r>
                      <a:r>
                        <a:rPr sz="1400" u="sng" spc="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the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Blockchain-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Bas</a:t>
                      </a:r>
                      <a:r>
                        <a:rPr sz="1400" u="none" spc="-25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ed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Sharing</a:t>
                      </a:r>
                      <a:r>
                        <a:rPr sz="1400" u="sng" spc="-2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Economy:</a:t>
                      </a:r>
                      <a:r>
                        <a:rPr sz="1400" u="sng" spc="-4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Theoretical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Integr</a:t>
                      </a:r>
                      <a:r>
                        <a:rPr sz="1400" u="none" spc="-10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ation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and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Guiding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Insights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|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Journal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of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spc="-5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B</a:t>
                      </a:r>
                      <a:r>
                        <a:rPr sz="1400" u="none" spc="-50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usiness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Ethics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[3]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21082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chain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agricultural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supply chain-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review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 marL="307340" marR="299720" indent="-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Harshitha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Shashidhar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R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(2021)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" marR="95250">
                        <a:lnSpc>
                          <a:spcPts val="1400"/>
                        </a:lnSpc>
                      </a:pP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Block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chain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based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agricultural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supply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ch</a:t>
                      </a:r>
                      <a:r>
                        <a:rPr sz="1400" u="none" spc="-25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ain-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A</a:t>
                      </a:r>
                      <a:r>
                        <a:rPr sz="1400" u="sng" spc="-8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review -</a:t>
                      </a:r>
                      <a:r>
                        <a:rPr sz="1400" u="sng" spc="-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ScienceDirect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965892" y="117094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8737" y="3387499"/>
            <a:ext cx="2828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55" dirty="0"/>
              <a:t> </a:t>
            </a:r>
            <a:r>
              <a:rPr spc="-40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CE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1361</Words>
  <Application>Microsoft Office PowerPoint</Application>
  <PresentationFormat>Custom</PresentationFormat>
  <Paragraphs>296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Times New Roman</vt:lpstr>
      <vt:lpstr>Office Theme</vt:lpstr>
      <vt:lpstr>GreenEquip: Decentralized Farm Machinery Rental Application using blockchain</vt:lpstr>
      <vt:lpstr>Introduction</vt:lpstr>
      <vt:lpstr>Objectives</vt:lpstr>
      <vt:lpstr>Literature Survey</vt:lpstr>
      <vt:lpstr>PowerPoint Presentation</vt:lpstr>
      <vt:lpstr>PowerPoint Presentation</vt:lpstr>
      <vt:lpstr>Limitations of Existing Systems</vt:lpstr>
      <vt:lpstr>Problem Statement</vt:lpstr>
      <vt:lpstr>System Design</vt:lpstr>
      <vt:lpstr>System Flow</vt:lpstr>
      <vt:lpstr>PowerPoint Presentation</vt:lpstr>
      <vt:lpstr>Architecture Diagram</vt:lpstr>
      <vt:lpstr>Technologies &amp; Methodologies</vt:lpstr>
      <vt:lpstr>Data Storage Layer</vt:lpstr>
      <vt:lpstr>Implementation</vt:lpstr>
      <vt:lpstr>PowerPoint Presentation</vt:lpstr>
      <vt:lpstr>PowerPoint Presentation</vt:lpstr>
      <vt:lpstr>PowerPoint Presentation</vt:lpstr>
      <vt:lpstr>Result</vt:lpstr>
      <vt:lpstr>Conclusion</vt:lpstr>
      <vt:lpstr>References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Sumant Bhise</dc:creator>
  <cp:lastModifiedBy>Om Panchal</cp:lastModifiedBy>
  <cp:revision>9</cp:revision>
  <dcterms:created xsi:type="dcterms:W3CDTF">2025-10-09T08:54:01Z</dcterms:created>
  <dcterms:modified xsi:type="dcterms:W3CDTF">2026-02-13T04:39:45Z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25.8.1.1 (X86_64)</vt:lpwstr>
  </property>
  <property fmtid="{D5CDD505-2E9C-101B-9397-08002B2CF9AE}" pid="5" name="LastSaved">
    <vt:filetime>2025-10-08T00:00:00Z</vt:filetime>
  </property>
</Properties>
</file>